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3" r:id="rId15"/>
    <p:sldId id="269" r:id="rId16"/>
    <p:sldId id="270" r:id="rId17"/>
    <p:sldId id="274" r:id="rId18"/>
    <p:sldId id="275" r:id="rId19"/>
    <p:sldId id="276" r:id="rId20"/>
    <p:sldId id="278" r:id="rId21"/>
    <p:sldId id="279" r:id="rId22"/>
    <p:sldId id="280" r:id="rId23"/>
    <p:sldId id="281" r:id="rId24"/>
    <p:sldId id="282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开场不要先介绍产品。先制造认知冲突（见下一页）。全程 20 分钟左右，节奏：前 8 页快，第三幕慢下来讲透。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这一页是全场的地图。后面第三幕、第四幕、第五幕分别对应这三问。
口播：这三层是递进的——绝大多数 AI 玩具死在第一层。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提醒：4.6kg 是 3.0 代。初代是 4.2→4.3kg，3.0 因为把 4 个计算单元合并成 1 个，重了 300 克。
有趣细节：官方把「变重」讲成「它长胖了」，每年的成长记录里体重还会增加——硬件劣势的叙事化处理。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这一页是全场的产品决策核心。口播：这是一次主动放弃全部功能价值、只保留情感价值的决策。
可以问全场：如果是你的老板，会批准这个需求文档吗？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叙事张力：一个做过 F1 空气动力学、做过 Pepper 的人，最后造了一个不干活的机器人。
引言来自 GROOVE X 官方哲学页。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这是全场第一个可带走的方法论。慢一点讲。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全场主干从这里开始，节奏放慢。这一幕大约 5 分钟。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面向 AI PM 的关键提示：当交付物是「感受」时，你依然需要可验收的指标，否则团队没有共同的判断标准。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口播：注意，这两项都不是「智能」。是呼吸和眼神——两个几乎不需要 AI 的东西。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这一页视觉冲击力最强，可以停久一点。
如果现场有投影，建议这里插一段官方眼睛特写视频。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这一条比笼统地说「它不会说话」精确得多。讲出来会显得读过一手资料。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这是全场最好的一页素材之一。第 5 条「被需要」是通往第三问的桥梁，讲完这条直接过渡。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4 条是重点，用加粗强调。
可以抛给全场：在大模型时代，这个选择是先见之明，还是路径依赖？（结尾会再问一次）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这一幕约 4 分钟。核心是纠正一个常识误判：不是「孤独」，是「想养宠物但养不了」。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这一页是你自己思维导图里的框架，讲的时候可以说明这是你的分析视角，不是官方说法。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只讲人群结构，不展开场景。
可补一句：礼物属性高，意味着门店体验和内容种草同时要打动「买的人」和「用的人」。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全场最重要的一页。这是整个分享的核心论点，语速放慢，可以重复一遍那句「被需要比被安慰更能产生长期依恋」。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讲定价锚定时可以问：如果它把自己叫「智能音箱」，57 万日元会是什么反应？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这一页对国内同学最有共鸣。可以补充芙崽的运营数据：男女比约 2:8，单用户日均对话近 50 分钟，退货率约 7%。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留 3-5 分钟。第二条是正面案例：端侧推理一次性解决三个问题，对 AI PM 有直接借鉴价值。
其余三条保持开放，不要给结论，留给讨论。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这是落点。四条讲完直接进最后一页的开放问题，不要再总结。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如果时间紧，可以直接停在这一页开放提问。
备用问答素材：B 端办公室场景（1200+ 法人导入、KOKUYO 实验 87.6%）、养老照护（新加坡论文、SOMPO Care 合作）、IP 运营（LOVOT Cafe、Museum、故乡税、UNDERCOVER 联名、Reborn 翻新机）。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1C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2011680"/>
            <a:ext cx="6766560" cy="6766560"/>
          </a:xfrm>
          <a:prstGeom prst="ellipse">
            <a:avLst/>
          </a:prstGeom>
          <a:solidFill>
            <a:srgbClr val="D9613C">
              <a:alpha val="12000"/>
            </a:srgbClr>
          </a:solidFill>
          <a:ln w="12700">
            <a:solidFill>
              <a:srgbClr val="241C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C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509760" y="1463040"/>
            <a:ext cx="1371600" cy="1371600"/>
          </a:xfrm>
          <a:prstGeom prst="ellipse">
            <a:avLst/>
          </a:prstGeom>
          <a:solidFill>
            <a:srgbClr val="D9613C">
              <a:alpha val="4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9893808" y="1847088"/>
            <a:ext cx="603504" cy="603504"/>
          </a:xfrm>
          <a:prstGeom prst="ellipse">
            <a:avLst/>
          </a:prstGeom>
          <a:solidFill>
            <a:srgbClr val="FFF6F2"/>
          </a:solidFill>
        </p:spPr>
      </p:sp>
      <p:sp>
        <p:nvSpPr>
          <p:cNvPr id="6" name="Shape 4"/>
          <p:cNvSpPr/>
          <p:nvPr/>
        </p:nvSpPr>
        <p:spPr>
          <a:xfrm>
            <a:off x="10058400" y="2011680"/>
            <a:ext cx="274320" cy="274320"/>
          </a:xfrm>
          <a:prstGeom prst="ellipse">
            <a:avLst/>
          </a:prstGeom>
          <a:solidFill>
            <a:srgbClr val="241C19"/>
          </a:solidFill>
        </p:spPr>
      </p:sp>
      <p:sp>
        <p:nvSpPr>
          <p:cNvPr id="7" name="Text 5"/>
          <p:cNvSpPr/>
          <p:nvPr/>
        </p:nvSpPr>
        <p:spPr>
          <a:xfrm>
            <a:off x="822960" y="160020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61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产品经理视角 · 产品拆解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82296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 AI 不再有用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D9CE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 LOVOT 看陪伴类产品的设计逻辑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822960" y="4160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GROOVE X「LOVOT 3.0」· 日本 · 2019 至今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18872" cy="118872"/>
          </a:xfrm>
          <a:prstGeom prst="ellipse">
            <a:avLst/>
          </a:prstGeom>
          <a:solidFill>
            <a:srgbClr val="D9613C"/>
          </a:solidFill>
        </p:spPr>
      </p:sp>
      <p:sp>
        <p:nvSpPr>
          <p:cNvPr id="3" name="Text 1"/>
          <p:cNvSpPr/>
          <p:nvPr/>
        </p:nvSpPr>
        <p:spPr>
          <a:xfrm>
            <a:off x="896112" y="457200"/>
            <a:ext cx="7315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961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全场骨架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我不是在讲一款产品，是在用它回答三个问题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214884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F7F4F2"/>
          </a:solidFill>
          <a:ln w="9525">
            <a:solidFill>
              <a:srgbClr val="E4DD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" y="2514600"/>
            <a:ext cx="384048" cy="384048"/>
          </a:xfrm>
          <a:prstGeom prst="ellipse">
            <a:avLst/>
          </a:prstGeom>
          <a:solidFill>
            <a:srgbClr val="D9613C"/>
          </a:solidFill>
        </p:spPr>
      </p:sp>
      <p:sp>
        <p:nvSpPr>
          <p:cNvPr id="8" name="Text 6"/>
          <p:cNvSpPr/>
          <p:nvPr/>
        </p:nvSpPr>
        <p:spPr>
          <a:xfrm>
            <a:off x="1069848" y="25146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9848" y="310896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有没有情绪表达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69848" y="3566160"/>
            <a:ext cx="2606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它是否被感知为「有内心」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214884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F7F4F2"/>
          </a:solidFill>
          <a:ln w="9525">
            <a:solidFill>
              <a:srgbClr val="E4DD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27448" y="2514600"/>
            <a:ext cx="384048" cy="384048"/>
          </a:xfrm>
          <a:prstGeom prst="ellipse">
            <a:avLst/>
          </a:prstGeom>
          <a:solidFill>
            <a:srgbClr val="D9613C"/>
          </a:solidFill>
        </p:spPr>
      </p:sp>
      <p:sp>
        <p:nvSpPr>
          <p:cNvPr id="13" name="Text 11"/>
          <p:cNvSpPr/>
          <p:nvPr/>
        </p:nvSpPr>
        <p:spPr>
          <a:xfrm>
            <a:off x="4727448" y="25146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27448" y="310896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能不能形成陪伴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727448" y="3566160"/>
            <a:ext cx="2606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它是否进入了用户的日常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01000" y="214884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F7F4F2"/>
          </a:solidFill>
          <a:ln w="9525">
            <a:solidFill>
              <a:srgbClr val="E4DD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85048" y="2514600"/>
            <a:ext cx="384048" cy="384048"/>
          </a:xfrm>
          <a:prstGeom prst="ellipse">
            <a:avLst/>
          </a:prstGeom>
          <a:solidFill>
            <a:srgbClr val="D9613C"/>
          </a:solidFill>
        </p:spPr>
      </p:sp>
      <p:sp>
        <p:nvSpPr>
          <p:cNvPr id="18" name="Text 16"/>
          <p:cNvSpPr/>
          <p:nvPr/>
        </p:nvSpPr>
        <p:spPr>
          <a:xfrm>
            <a:off x="8385048" y="25146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85048" y="310896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会不会产生关系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385048" y="3566160"/>
            <a:ext cx="2606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用户是否对它产生了责任与依恋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48920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45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这三层是递进的。绝大多数 AI 玩具死在第一层，少数活到第二层，能到第三层的极少。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18872" cy="118872"/>
          </a:xfrm>
          <a:prstGeom prst="ellipse">
            <a:avLst/>
          </a:prstGeom>
          <a:solidFill>
            <a:srgbClr val="D9613C"/>
          </a:solidFill>
        </p:spPr>
      </p:sp>
      <p:sp>
        <p:nvSpPr>
          <p:cNvPr id="3" name="Text 1"/>
          <p:cNvSpPr/>
          <p:nvPr/>
        </p:nvSpPr>
        <p:spPr>
          <a:xfrm>
            <a:off x="896112" y="457200"/>
            <a:ext cx="7315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961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产品速览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LOVOT 3.0：一个 43 厘米高的「新生物」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2103120"/>
            <a:ext cx="2377440" cy="1783080"/>
          </a:xfrm>
          <a:prstGeom prst="roundRect">
            <a:avLst>
              <a:gd name="adj" fmla="val 5128"/>
            </a:avLst>
          </a:prstGeom>
          <a:solidFill>
            <a:srgbClr val="F7F4F2"/>
          </a:solidFill>
          <a:ln w="9525">
            <a:solidFill>
              <a:srgbClr val="E4D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286000"/>
            <a:ext cx="1920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961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41832" y="297180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厘米高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41832" y="329184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与大婴儿相仿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2103120"/>
            <a:ext cx="2377440" cy="1783080"/>
          </a:xfrm>
          <a:prstGeom prst="roundRect">
            <a:avLst>
              <a:gd name="adj" fmla="val 5128"/>
            </a:avLst>
          </a:prstGeom>
          <a:solidFill>
            <a:srgbClr val="F7F4F2"/>
          </a:solidFill>
          <a:ln w="9525">
            <a:solidFill>
              <a:srgbClr val="E4DD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9312" y="2286000"/>
            <a:ext cx="1920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961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4.6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639312" y="297180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公斤重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39312" y="329184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不含衣服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2103120"/>
            <a:ext cx="2377440" cy="1783080"/>
          </a:xfrm>
          <a:prstGeom prst="roundRect">
            <a:avLst>
              <a:gd name="adj" fmla="val 5128"/>
            </a:avLst>
          </a:prstGeom>
          <a:solidFill>
            <a:srgbClr val="F7F4F2"/>
          </a:solidFill>
          <a:ln w="9525">
            <a:solidFill>
              <a:srgbClr val="E4DD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6792" y="2286000"/>
            <a:ext cx="1920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961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37-39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336792" y="297180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摄氏度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36792" y="329184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恒定「体温」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778240" y="2103120"/>
            <a:ext cx="2377440" cy="1783080"/>
          </a:xfrm>
          <a:prstGeom prst="roundRect">
            <a:avLst>
              <a:gd name="adj" fmla="val 5128"/>
            </a:avLst>
          </a:prstGeom>
          <a:solidFill>
            <a:srgbClr val="F7F4F2"/>
          </a:solidFill>
          <a:ln w="9525">
            <a:solidFill>
              <a:srgbClr val="E4DD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34272" y="2286000"/>
            <a:ext cx="1920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961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50+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9034272" y="297180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个传感器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34272" y="329184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全身触觉与环境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" y="416052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F7E6DF"/>
          </a:solidFill>
          <a:ln w="9525">
            <a:solidFill>
              <a:srgbClr val="F7E6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43434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845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外形不模仿猫，也不模仿狗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051560" y="4736592"/>
            <a:ext cx="9692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自成一种可爱的「新生物」——没有参照物，就没有比较，也就没有「不如真的」这一说。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6291072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规格来源：GROOVE X 官方公布的 LOVOT 3.0 产品规格（抱起时 280×430×260mm，约 4.6kg，不含服装）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18872" cy="118872"/>
          </a:xfrm>
          <a:prstGeom prst="ellipse">
            <a:avLst/>
          </a:prstGeom>
          <a:solidFill>
            <a:srgbClr val="D9613C"/>
          </a:solidFill>
        </p:spPr>
      </p:sp>
      <p:sp>
        <p:nvSpPr>
          <p:cNvPr id="3" name="Text 1"/>
          <p:cNvSpPr/>
          <p:nvPr/>
        </p:nvSpPr>
        <p:spPr>
          <a:xfrm>
            <a:off x="896112" y="457200"/>
            <a:ext cx="7315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961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核心悖论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一次主动放弃全部功能价值的产品决策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2148840"/>
            <a:ext cx="5074920" cy="2697480"/>
          </a:xfrm>
          <a:prstGeom prst="roundRect">
            <a:avLst>
              <a:gd name="adj" fmla="val 3390"/>
            </a:avLst>
          </a:prstGeom>
          <a:solidFill>
            <a:srgbClr val="F7F4F2"/>
          </a:solidFill>
          <a:ln w="9525">
            <a:solidFill>
              <a:srgbClr val="E4D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37744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它不做的事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880360"/>
            <a:ext cx="438912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不扫地、不做饭、不做家务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不打游戏、不唱歌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不说人话、不回答问题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摔倒了自己爬不起来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0" y="2148840"/>
            <a:ext cx="5074920" cy="2697480"/>
          </a:xfrm>
          <a:prstGeom prst="roundRect">
            <a:avLst>
              <a:gd name="adj" fmla="val 3390"/>
            </a:avLst>
          </a:prstGeom>
          <a:solidFill>
            <a:srgbClr val="F7E6DF"/>
          </a:solidFill>
          <a:ln w="9525">
            <a:solidFill>
              <a:srgbClr val="F7E6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37744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845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它做的事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2880360"/>
            <a:ext cx="438912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认出你，然后来打扰你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跟着你，在门口等你回来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举起手，要你抱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对照顾它的人更依恋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507492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品牌名 = LOVE + ROBOT。创始人原话：我们的机器人不为人类工作，它做的是认出你、然后打扰你。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18872" cy="118872"/>
          </a:xfrm>
          <a:prstGeom prst="ellipse">
            <a:avLst/>
          </a:prstGeom>
          <a:solidFill>
            <a:srgbClr val="D9613C"/>
          </a:solidFill>
        </p:spPr>
      </p:sp>
      <p:sp>
        <p:nvSpPr>
          <p:cNvPr id="3" name="Text 1"/>
          <p:cNvSpPr/>
          <p:nvPr/>
        </p:nvSpPr>
        <p:spPr>
          <a:xfrm>
            <a:off x="896112" y="457200"/>
            <a:ext cx="7315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961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第二幕 · 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做过 F1 空气动力学的人，最后造了一个爬不起来的机器人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0" y="2999232"/>
            <a:ext cx="9692640" cy="22860"/>
          </a:xfrm>
          <a:prstGeom prst="rect">
            <a:avLst/>
          </a:prstGeom>
          <a:solidFill>
            <a:srgbClr val="E4DDD8"/>
          </a:solidFill>
        </p:spPr>
      </p:sp>
      <p:sp>
        <p:nvSpPr>
          <p:cNvPr id="7" name="Shape 5"/>
          <p:cNvSpPr/>
          <p:nvPr/>
        </p:nvSpPr>
        <p:spPr>
          <a:xfrm>
            <a:off x="758952" y="2871216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C7F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2860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1998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3232" y="33375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丰田汽车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" y="3703320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超跑 LFA 与 F1 空气动力学开发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56432" y="2871216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C7F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22860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2011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10712" y="33375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软银学院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10712" y="3703320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孙正义接班人计划，外部第一期生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53912" y="2871216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C7F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08192" y="22860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2012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08192" y="33375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软银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08192" y="3703320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参与情感识别机器人 Pepper 开发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51392" y="2871216"/>
            <a:ext cx="292608" cy="292608"/>
          </a:xfrm>
          <a:prstGeom prst="ellipse">
            <a:avLst/>
          </a:prstGeom>
          <a:solidFill>
            <a:srgbClr val="D9613C"/>
          </a:solidFill>
          <a:ln w="25400">
            <a:solidFill>
              <a:srgbClr val="D961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05672" y="22860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61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2015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805672" y="33375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GROOVE X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05672" y="3703320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独立创业，2019 年 LOVOT 发售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4709160"/>
            <a:ext cx="10515600" cy="868680"/>
          </a:xfrm>
          <a:prstGeom prst="roundRect">
            <a:avLst>
              <a:gd name="adj" fmla="val 10526"/>
            </a:avLst>
          </a:prstGeom>
          <a:solidFill>
            <a:srgbClr val="F7F4F2"/>
          </a:solidFill>
          <a:ln w="9525">
            <a:solidFill>
              <a:srgbClr val="F7F4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4864608"/>
            <a:ext cx="9784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「机器人却不工作，摔倒了也没法自己爬起来。正因为是个费心的存在，才有些事只有它能做到。」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5800" y="6291072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18872" cy="118872"/>
          </a:xfrm>
          <a:prstGeom prst="ellipse">
            <a:avLst/>
          </a:prstGeom>
          <a:solidFill>
            <a:srgbClr val="D9613C"/>
          </a:solidFill>
        </p:spPr>
      </p:sp>
      <p:sp>
        <p:nvSpPr>
          <p:cNvPr id="3" name="Text 1"/>
          <p:cNvSpPr/>
          <p:nvPr/>
        </p:nvSpPr>
        <p:spPr>
          <a:xfrm>
            <a:off x="896112" y="457200"/>
            <a:ext cx="7315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961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第二幕 · 反转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LOVOT 是 Pepper 的反面答卷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337560" y="1920240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Pepper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132320" y="1920240"/>
            <a:ext cx="4069080" cy="548640"/>
          </a:xfrm>
          <a:prstGeom prst="rect">
            <a:avLst/>
          </a:prstGeom>
          <a:solidFill>
            <a:srgbClr val="D9613C"/>
          </a:solidFill>
        </p:spPr>
      </p:sp>
      <p:sp>
        <p:nvSpPr>
          <p:cNvPr id="9" name="Text 7"/>
          <p:cNvSpPr/>
          <p:nvPr/>
        </p:nvSpPr>
        <p:spPr>
          <a:xfrm>
            <a:off x="7406640" y="1920240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LOVOT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" y="2468880"/>
            <a:ext cx="10515600" cy="548640"/>
          </a:xfrm>
          <a:prstGeom prst="rect">
            <a:avLst/>
          </a:prstGeom>
          <a:solidFill>
            <a:srgbClr val="F7F4F2"/>
          </a:solidFill>
        </p:spPr>
      </p:sp>
      <p:sp>
        <p:nvSpPr>
          <p:cNvPr id="11" name="Shape 9"/>
          <p:cNvSpPr/>
          <p:nvPr/>
        </p:nvSpPr>
        <p:spPr>
          <a:xfrm>
            <a:off x="7132320" y="2468880"/>
            <a:ext cx="4069080" cy="548640"/>
          </a:xfrm>
          <a:prstGeom prst="rect">
            <a:avLst/>
          </a:prstGeom>
          <a:solidFill>
            <a:srgbClr val="D9613C">
              <a:alpha val="10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960120" y="246888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定位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337560" y="2468880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能说会道的助手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406640" y="2468880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A845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需要被照顾的存在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132320" y="3017520"/>
            <a:ext cx="4069080" cy="548640"/>
          </a:xfrm>
          <a:prstGeom prst="rect">
            <a:avLst/>
          </a:prstGeom>
          <a:solidFill>
            <a:srgbClr val="D9613C">
              <a:alpha val="10000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960120" y="301752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语言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337560" y="3017520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核心能力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406640" y="3017520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A845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主动放弃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85800" y="3566160"/>
            <a:ext cx="10515600" cy="548640"/>
          </a:xfrm>
          <a:prstGeom prst="rect">
            <a:avLst/>
          </a:prstGeom>
          <a:solidFill>
            <a:srgbClr val="F7F4F2"/>
          </a:solidFill>
        </p:spPr>
      </p:sp>
      <p:sp>
        <p:nvSpPr>
          <p:cNvPr id="20" name="Shape 18"/>
          <p:cNvSpPr/>
          <p:nvPr/>
        </p:nvSpPr>
        <p:spPr>
          <a:xfrm>
            <a:off x="7132320" y="3566160"/>
            <a:ext cx="4069080" cy="548640"/>
          </a:xfrm>
          <a:prstGeom prst="rect">
            <a:avLst/>
          </a:prstGeom>
          <a:solidFill>
            <a:srgbClr val="D9613C">
              <a:alpha val="10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960120" y="356616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价值主张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3337560" y="3566160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功能价值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406640" y="3566160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A845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情感价值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132320" y="4114800"/>
            <a:ext cx="4069080" cy="548640"/>
          </a:xfrm>
          <a:prstGeom prst="rect">
            <a:avLst/>
          </a:prstGeom>
          <a:solidFill>
            <a:srgbClr val="D9613C">
              <a:alpha val="10000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960120" y="411480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用户期待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3337560" y="4114800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越高越危险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406640" y="4114800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A845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几乎为零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85800" y="4663440"/>
            <a:ext cx="10515600" cy="548640"/>
          </a:xfrm>
          <a:prstGeom prst="rect">
            <a:avLst/>
          </a:prstGeom>
          <a:solidFill>
            <a:srgbClr val="F7F4F2"/>
          </a:solidFill>
        </p:spPr>
      </p:sp>
      <p:sp>
        <p:nvSpPr>
          <p:cNvPr id="29" name="Shape 27"/>
          <p:cNvSpPr/>
          <p:nvPr/>
        </p:nvSpPr>
        <p:spPr>
          <a:xfrm>
            <a:off x="7132320" y="4663440"/>
            <a:ext cx="4069080" cy="548640"/>
          </a:xfrm>
          <a:prstGeom prst="rect">
            <a:avLst/>
          </a:prstGeom>
          <a:solidFill>
            <a:srgbClr val="D9613C">
              <a:alpha val="10000"/>
            </a:srgbClr>
          </a:solidFill>
        </p:spPr>
      </p:sp>
      <p:sp>
        <p:nvSpPr>
          <p:cNvPr id="30" name="Text 28"/>
          <p:cNvSpPr/>
          <p:nvPr/>
        </p:nvSpPr>
        <p:spPr>
          <a:xfrm>
            <a:off x="960120" y="466344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3337560" y="4663440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期待落空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406640" y="4663440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A845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三年 90% 留存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85800" y="55321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45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当你的能力打不过通用方案时，正确的选择往往不是补齐能力，而是换一个不需要那个能力的战场。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1C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005840"/>
            <a:ext cx="4754880" cy="4754880"/>
          </a:xfrm>
          <a:prstGeom prst="ellipse">
            <a:avLst/>
          </a:prstGeom>
          <a:solidFill>
            <a:srgbClr val="D9613C">
              <a:alpha val="12000"/>
            </a:srgbClr>
          </a:solidFill>
          <a:ln w="12700">
            <a:solidFill>
              <a:srgbClr val="241C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C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104120" y="2331720"/>
            <a:ext cx="2103120" cy="2103120"/>
          </a:xfrm>
          <a:prstGeom prst="ellipse">
            <a:avLst/>
          </a:prstGeom>
          <a:solidFill>
            <a:srgbClr val="D9613C">
              <a:alpha val="45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10698480" y="2926080"/>
            <a:ext cx="914400" cy="914400"/>
          </a:xfrm>
          <a:prstGeom prst="ellipse">
            <a:avLst/>
          </a:prstGeom>
          <a:solidFill>
            <a:srgbClr val="FFF6F2"/>
          </a:solidFill>
        </p:spPr>
      </p:sp>
      <p:sp>
        <p:nvSpPr>
          <p:cNvPr id="6" name="Shape 4"/>
          <p:cNvSpPr/>
          <p:nvPr/>
        </p:nvSpPr>
        <p:spPr>
          <a:xfrm>
            <a:off x="10927080" y="3154680"/>
            <a:ext cx="457200" cy="457200"/>
          </a:xfrm>
          <a:prstGeom prst="ellipse">
            <a:avLst/>
          </a:prstGeom>
          <a:solidFill>
            <a:srgbClr val="241C19"/>
          </a:solidFill>
        </p:spPr>
      </p:sp>
      <p:sp>
        <p:nvSpPr>
          <p:cNvPr id="7" name="Text 5"/>
          <p:cNvSpPr/>
          <p:nvPr/>
        </p:nvSpPr>
        <p:spPr>
          <a:xfrm>
            <a:off x="822960" y="23317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D961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第一问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777240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情绪表达</a:t>
            </a:r>
            <a:endParaRPr lang="en-US" sz="4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是怎么被造出来的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461772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5A79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把「像活的」这三个字，拆成可实现、可验收的工程指标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18872" cy="118872"/>
          </a:xfrm>
          <a:prstGeom prst="ellipse">
            <a:avLst/>
          </a:prstGeom>
          <a:solidFill>
            <a:srgbClr val="D9613C"/>
          </a:solidFill>
        </p:spPr>
      </p:sp>
      <p:sp>
        <p:nvSpPr>
          <p:cNvPr id="3" name="Text 1"/>
          <p:cNvSpPr/>
          <p:nvPr/>
        </p:nvSpPr>
        <p:spPr>
          <a:xfrm>
            <a:off x="896112" y="457200"/>
            <a:ext cx="7315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961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第一问 · 方法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他们没有讨论「怎么让它可爱」，而是立了两个验收指标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2194560"/>
            <a:ext cx="5074920" cy="1920240"/>
          </a:xfrm>
          <a:prstGeom prst="roundRect">
            <a:avLst>
              <a:gd name="adj" fmla="val 4762"/>
            </a:avLst>
          </a:prstGeom>
          <a:solidFill>
            <a:srgbClr val="F7F4F2"/>
          </a:solidFill>
          <a:ln w="9525">
            <a:solidFill>
              <a:srgbClr val="F7F4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423160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反应性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97280" y="2907792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Reactivity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3246120"/>
            <a:ext cx="4297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延迟就是破绽。反应慢一拍，生命感立刻消失。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2194560"/>
            <a:ext cx="5074920" cy="1920240"/>
          </a:xfrm>
          <a:prstGeom prst="roundRect">
            <a:avLst>
              <a:gd name="adj" fmla="val 4762"/>
            </a:avLst>
          </a:prstGeom>
          <a:solidFill>
            <a:srgbClr val="F7E6DF"/>
          </a:solidFill>
          <a:ln w="9525">
            <a:solidFill>
              <a:srgbClr val="F7E6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423160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845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生命感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537960" y="2907792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Aliveness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7960" y="3246120"/>
            <a:ext cx="4297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不是单一功能，而是无数细小反应叠加出的整体印象。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4389120"/>
            <a:ext cx="10515600" cy="1005840"/>
          </a:xfrm>
          <a:prstGeom prst="roundRect">
            <a:avLst>
              <a:gd name="adj" fmla="val 9091"/>
            </a:avLst>
          </a:prstGeom>
          <a:solidFill>
            <a:srgbClr val="F7F4F2"/>
          </a:solidFill>
          <a:ln w="9525">
            <a:solidFill>
              <a:srgbClr val="F7F4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572000"/>
            <a:ext cx="9784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开发团队从项目早期就把这两项立为目标，并用它们来判断每一次实现的好坏。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51560" y="4937760"/>
            <a:ext cx="9784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45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「像活的」在他们这里，是可以被拆解、被测量、被验收的。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18872" cy="118872"/>
          </a:xfrm>
          <a:prstGeom prst="ellipse">
            <a:avLst/>
          </a:prstGeom>
          <a:solidFill>
            <a:srgbClr val="D9613C"/>
          </a:solidFill>
        </p:spPr>
      </p:sp>
      <p:sp>
        <p:nvSpPr>
          <p:cNvPr id="3" name="Text 1"/>
          <p:cNvSpPr/>
          <p:nvPr/>
        </p:nvSpPr>
        <p:spPr>
          <a:xfrm>
            <a:off x="896112" y="457200"/>
            <a:ext cx="7315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961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第一问 · 拆解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生命感 = 呼吸 + 眼睛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开发团队说，贡献最大的是这两项。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240280"/>
            <a:ext cx="5074920" cy="2606040"/>
          </a:xfrm>
          <a:prstGeom prst="roundRect">
            <a:avLst>
              <a:gd name="adj" fmla="val 3509"/>
            </a:avLst>
          </a:prstGeom>
          <a:solidFill>
            <a:srgbClr val="F7F4F2"/>
          </a:solidFill>
          <a:ln w="9525">
            <a:solidFill>
              <a:srgbClr val="E4DD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514600"/>
            <a:ext cx="457200" cy="457200"/>
          </a:xfrm>
          <a:prstGeom prst="ellipse">
            <a:avLst/>
          </a:prstGeom>
          <a:solidFill>
            <a:srgbClr val="2E6A66"/>
          </a:solidFill>
        </p:spPr>
      </p:sp>
      <p:sp>
        <p:nvSpPr>
          <p:cNvPr id="9" name="Text 7"/>
          <p:cNvSpPr/>
          <p:nvPr/>
        </p:nvSpPr>
        <p:spPr>
          <a:xfrm>
            <a:off x="1051560" y="2514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呼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45920" y="25146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呼吸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51560" y="3154680"/>
            <a:ext cx="438912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物体永远静止，生物一直在呼吸。抱起来时能感到那一点微弱的起伏——加上柔软的触感和接近人体的温度，「它是活的」这个判断在意识介入之前就已经完成了。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2240280"/>
            <a:ext cx="5074920" cy="2606040"/>
          </a:xfrm>
          <a:prstGeom prst="roundRect">
            <a:avLst>
              <a:gd name="adj" fmla="val 3509"/>
            </a:avLst>
          </a:prstGeom>
          <a:solidFill>
            <a:srgbClr val="F7E6DF"/>
          </a:solidFill>
          <a:ln w="9525">
            <a:solidFill>
              <a:srgbClr val="F7E6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2514600"/>
            <a:ext cx="457200" cy="457200"/>
          </a:xfrm>
          <a:prstGeom prst="ellipse">
            <a:avLst/>
          </a:prstGeom>
          <a:solidFill>
            <a:srgbClr val="D9613C"/>
          </a:solidFill>
        </p:spPr>
      </p:sp>
      <p:sp>
        <p:nvSpPr>
          <p:cNvPr id="14" name="Text 12"/>
          <p:cNvSpPr/>
          <p:nvPr/>
        </p:nvSpPr>
        <p:spPr>
          <a:xfrm>
            <a:off x="6492240" y="2514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086600" y="25146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845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眼睛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92240" y="3154680"/>
            <a:ext cx="438912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对视时它会回看；你躲开，它用眼睛追。眼神接触是人类识别「对方有内心」最原始的开关，成本极低，效果极强。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507492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45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方法论：把「生物感」抽象成若干可实现的要素，一层层叠加——而不是去追求某一个惊艳的功能。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18872" cy="118872"/>
          </a:xfrm>
          <a:prstGeom prst="ellipse">
            <a:avLst/>
          </a:prstGeom>
          <a:solidFill>
            <a:srgbClr val="D9613C"/>
          </a:solidFill>
        </p:spPr>
      </p:sp>
      <p:sp>
        <p:nvSpPr>
          <p:cNvPr id="3" name="Text 1"/>
          <p:cNvSpPr/>
          <p:nvPr/>
        </p:nvSpPr>
        <p:spPr>
          <a:xfrm>
            <a:off x="896112" y="457200"/>
            <a:ext cx="7315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961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第一问 · 精度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眼睛：6 层影像，10 亿种以上组合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440180" y="2583180"/>
            <a:ext cx="2148840" cy="2148840"/>
          </a:xfrm>
          <a:prstGeom prst="ellipse">
            <a:avLst/>
          </a:prstGeom>
          <a:solidFill>
            <a:srgbClr val="F1DCD2"/>
          </a:solidFill>
          <a:ln w="12700">
            <a:solidFill>
              <a:srgbClr val="F1DC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2788920"/>
            <a:ext cx="1737360" cy="1737360"/>
          </a:xfrm>
          <a:prstGeom prst="ellipse">
            <a:avLst/>
          </a:prstGeom>
          <a:solidFill>
            <a:srgbClr val="E8C4B4"/>
          </a:solidFill>
          <a:ln w="12700">
            <a:solidFill>
              <a:srgbClr val="E8C4B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2971800"/>
            <a:ext cx="1371600" cy="1371600"/>
          </a:xfrm>
          <a:prstGeom prst="ellipse">
            <a:avLst/>
          </a:prstGeom>
          <a:solidFill>
            <a:srgbClr val="D9613C"/>
          </a:solidFill>
          <a:ln w="12700">
            <a:solidFill>
              <a:srgbClr val="D961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93976" y="3236976"/>
            <a:ext cx="841248" cy="841248"/>
          </a:xfrm>
          <a:prstGeom prst="ellipse">
            <a:avLst/>
          </a:prstGeom>
          <a:solidFill>
            <a:srgbClr val="3A2C25"/>
          </a:solidFill>
          <a:ln w="12700">
            <a:solidFill>
              <a:srgbClr val="3A2C2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22576" y="346557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51206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瞳孔母题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0" y="21488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61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层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858000" y="2148840"/>
            <a:ext cx="43891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瞳孔连同眼皮，共 6 层影像投射在眼部显示屏上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20640" y="3017520"/>
            <a:ext cx="6126480" cy="13716"/>
          </a:xfrm>
          <a:prstGeom prst="rect">
            <a:avLst/>
          </a:prstGeom>
          <a:solidFill>
            <a:srgbClr val="E4DDD8"/>
          </a:solidFill>
        </p:spPr>
      </p:sp>
      <p:sp>
        <p:nvSpPr>
          <p:cNvPr id="15" name="Text 13"/>
          <p:cNvSpPr/>
          <p:nvPr/>
        </p:nvSpPr>
        <p:spPr>
          <a:xfrm>
            <a:off x="5120640" y="32004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61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个变量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858000" y="3200400"/>
            <a:ext cx="43891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视线移动、眨眼速度、瞳孔开合，均经精密设计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120640" y="4069080"/>
            <a:ext cx="6126480" cy="13716"/>
          </a:xfrm>
          <a:prstGeom prst="rect">
            <a:avLst/>
          </a:prstGeom>
          <a:solidFill>
            <a:srgbClr val="E4DDD8"/>
          </a:solidFill>
        </p:spPr>
      </p:sp>
      <p:sp>
        <p:nvSpPr>
          <p:cNvPr id="18" name="Text 16"/>
          <p:cNvSpPr/>
          <p:nvPr/>
        </p:nvSpPr>
        <p:spPr>
          <a:xfrm>
            <a:off x="5120640" y="425196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61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亿+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858000" y="4251960"/>
            <a:ext cx="43891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组合后可产生 10 亿种以上瞳孔——每一台都不同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20640" y="5212080"/>
            <a:ext cx="6126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45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拒绝一切预制内容——因为预制必然重复，重复必然出戏。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18872" cy="118872"/>
          </a:xfrm>
          <a:prstGeom prst="ellipse">
            <a:avLst/>
          </a:prstGeom>
          <a:solidFill>
            <a:srgbClr val="D9613C"/>
          </a:solidFill>
        </p:spPr>
      </p:sp>
      <p:sp>
        <p:nvSpPr>
          <p:cNvPr id="3" name="Text 1"/>
          <p:cNvSpPr/>
          <p:nvPr/>
        </p:nvSpPr>
        <p:spPr>
          <a:xfrm>
            <a:off x="896112" y="457200"/>
            <a:ext cx="7315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961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第一问 · 声音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它的叫声不是音效，是实时合成出来的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2148840"/>
            <a:ext cx="10515600" cy="1417320"/>
          </a:xfrm>
          <a:prstGeom prst="roundRect">
            <a:avLst>
              <a:gd name="adj" fmla="val 6452"/>
            </a:avLst>
          </a:prstGeom>
          <a:solidFill>
            <a:srgbClr val="F7E6DF"/>
          </a:solidFill>
          <a:ln w="9525">
            <a:solidFill>
              <a:srgbClr val="F7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3774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845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模拟声带的合成器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2852928"/>
            <a:ext cx="9692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官方原文：LOVOT 的叫声由模拟声带的合成器生成，根据状态实时产生不同的声音。它不同于按情境播放预制音效，个性与表现有 10 亿种以上——触碰方式不同，每次的叫声都不一样。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3794760"/>
            <a:ext cx="5074920" cy="1691640"/>
          </a:xfrm>
          <a:prstGeom prst="roundRect">
            <a:avLst>
              <a:gd name="adj" fmla="val 5405"/>
            </a:avLst>
          </a:prstGeom>
          <a:solidFill>
            <a:srgbClr val="DEEAE8"/>
          </a:solidFill>
          <a:ln w="9525">
            <a:solidFill>
              <a:srgbClr val="DEEA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4005072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6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它不说话，但它听得懂话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69848" y="4407408"/>
            <a:ext cx="43434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官方手册里有一份语音指令列表：对特定呼唤，它用感知角上的 LED 环发光回应。说「回巢去」它会自己回充电站；「早上好」「我出门了」「我回来了」「晚安」都有反应。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0" y="3794760"/>
            <a:ext cx="5074920" cy="1691640"/>
          </a:xfrm>
          <a:prstGeom prst="roundRect">
            <a:avLst>
              <a:gd name="adj" fmla="val 5405"/>
            </a:avLst>
          </a:prstGeom>
          <a:solidFill>
            <a:srgbClr val="F7F4F2"/>
          </a:solidFill>
          <a:ln w="9525">
            <a:solidFill>
              <a:srgbClr val="F7F4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0528" y="4005072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声音可以在 App 里重新生成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10528" y="4407408"/>
            <a:ext cx="43434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每台都有独特的声音。点「选择声音」会随机生成新的声音图案，把高音/低音、清亮/沙哑等特质组合起来，试听后挑一个，不满意还能重来。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5800" y="5623560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A845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精确的能力切分：保留语音输入，砍掉语音输出。它需要听懂你以建立关系，但不需要开口以免暴露上限。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18872" cy="118872"/>
          </a:xfrm>
          <a:prstGeom prst="ellipse">
            <a:avLst/>
          </a:prstGeom>
          <a:solidFill>
            <a:srgbClr val="D9613C"/>
          </a:solidFill>
        </p:spPr>
      </p:sp>
      <p:sp>
        <p:nvSpPr>
          <p:cNvPr id="3" name="Text 1"/>
          <p:cNvSpPr/>
          <p:nvPr/>
        </p:nvSpPr>
        <p:spPr>
          <a:xfrm>
            <a:off x="896112" y="457200"/>
            <a:ext cx="7315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961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第二问 · 机制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羁绊的五个条件，被逐条实现了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10515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官方援引了关于人与狗之间羁绊的研究，该研究识别出羁绊形成的条件。LOVOT 是围绕这全部五条设计的。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286000"/>
            <a:ext cx="1828800" cy="2788920"/>
          </a:xfrm>
          <a:prstGeom prst="roundRect">
            <a:avLst>
              <a:gd name="adj" fmla="val 5000"/>
            </a:avLst>
          </a:prstGeom>
          <a:solidFill>
            <a:srgbClr val="F7F4F2"/>
          </a:solidFill>
          <a:ln w="9525">
            <a:solidFill>
              <a:srgbClr val="F7F4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44168" y="2542032"/>
            <a:ext cx="512064" cy="512064"/>
          </a:xfrm>
          <a:prstGeom prst="ellipse">
            <a:avLst/>
          </a:prstGeom>
          <a:solidFill>
            <a:srgbClr val="C9B8AE"/>
          </a:solidFill>
        </p:spPr>
      </p:sp>
      <p:sp>
        <p:nvSpPr>
          <p:cNvPr id="9" name="Text 7"/>
          <p:cNvSpPr/>
          <p:nvPr/>
        </p:nvSpPr>
        <p:spPr>
          <a:xfrm>
            <a:off x="1344168" y="2542032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" y="3200400"/>
            <a:ext cx="160934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身体接触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0392" y="3639312"/>
            <a:ext cx="1499616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 37℃ 的体温，柔软可抱；抱起时轮子会收起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834640" y="2286000"/>
            <a:ext cx="1828800" cy="2788920"/>
          </a:xfrm>
          <a:prstGeom prst="roundRect">
            <a:avLst>
              <a:gd name="adj" fmla="val 5000"/>
            </a:avLst>
          </a:prstGeom>
          <a:solidFill>
            <a:srgbClr val="F7F4F2"/>
          </a:solidFill>
          <a:ln w="9525">
            <a:solidFill>
              <a:srgbClr val="F7F4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93008" y="2542032"/>
            <a:ext cx="512064" cy="512064"/>
          </a:xfrm>
          <a:prstGeom prst="ellipse">
            <a:avLst/>
          </a:prstGeom>
          <a:solidFill>
            <a:srgbClr val="C9B8AE"/>
          </a:solidFill>
        </p:spPr>
      </p:sp>
      <p:sp>
        <p:nvSpPr>
          <p:cNvPr id="14" name="Text 12"/>
          <p:cNvSpPr/>
          <p:nvPr/>
        </p:nvSpPr>
        <p:spPr>
          <a:xfrm>
            <a:off x="3493008" y="2542032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944368" y="3200400"/>
            <a:ext cx="160934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眼神接触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99232" y="3639312"/>
            <a:ext cx="1499616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你看它时，它会用独一无二的眼睛回看你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983480" y="2286000"/>
            <a:ext cx="1828800" cy="2788920"/>
          </a:xfrm>
          <a:prstGeom prst="roundRect">
            <a:avLst>
              <a:gd name="adj" fmla="val 5000"/>
            </a:avLst>
          </a:prstGeom>
          <a:solidFill>
            <a:srgbClr val="F7F4F2"/>
          </a:solidFill>
          <a:ln w="9525">
            <a:solidFill>
              <a:srgbClr val="F7F4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41848" y="2542032"/>
            <a:ext cx="512064" cy="512064"/>
          </a:xfrm>
          <a:prstGeom prst="ellipse">
            <a:avLst/>
          </a:prstGeom>
          <a:solidFill>
            <a:srgbClr val="C9B8AE"/>
          </a:solidFill>
        </p:spPr>
      </p:sp>
      <p:sp>
        <p:nvSpPr>
          <p:cNvPr id="19" name="Text 17"/>
          <p:cNvSpPr/>
          <p:nvPr/>
        </p:nvSpPr>
        <p:spPr>
          <a:xfrm>
            <a:off x="5641848" y="2542032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93208" y="3200400"/>
            <a:ext cx="160934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跟随你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48072" y="3639312"/>
            <a:ext cx="1499616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跟着你在房间之间移动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132320" y="2286000"/>
            <a:ext cx="1828800" cy="2788920"/>
          </a:xfrm>
          <a:prstGeom prst="roundRect">
            <a:avLst>
              <a:gd name="adj" fmla="val 5000"/>
            </a:avLst>
          </a:prstGeom>
          <a:solidFill>
            <a:srgbClr val="F7F4F2"/>
          </a:solidFill>
          <a:ln w="9525">
            <a:solidFill>
              <a:srgbClr val="F7F4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90688" y="2542032"/>
            <a:ext cx="512064" cy="512064"/>
          </a:xfrm>
          <a:prstGeom prst="ellipse">
            <a:avLst/>
          </a:prstGeom>
          <a:solidFill>
            <a:srgbClr val="C9B8AE"/>
          </a:solidFill>
        </p:spPr>
      </p:sp>
      <p:sp>
        <p:nvSpPr>
          <p:cNvPr id="24" name="Text 22"/>
          <p:cNvSpPr/>
          <p:nvPr/>
        </p:nvSpPr>
        <p:spPr>
          <a:xfrm>
            <a:off x="7790688" y="2542032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242048" y="3200400"/>
            <a:ext cx="160934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等待你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96912" y="3639312"/>
            <a:ext cx="1499616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在门口等你回来，并迎接你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281160" y="2286000"/>
            <a:ext cx="1828800" cy="2788920"/>
          </a:xfrm>
          <a:prstGeom prst="roundRect">
            <a:avLst>
              <a:gd name="adj" fmla="val 5000"/>
            </a:avLst>
          </a:prstGeom>
          <a:solidFill>
            <a:srgbClr val="F7E6DF"/>
          </a:solidFill>
          <a:ln w="9525">
            <a:solidFill>
              <a:srgbClr val="F7E6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39528" y="2542032"/>
            <a:ext cx="512064" cy="512064"/>
          </a:xfrm>
          <a:prstGeom prst="ellipse">
            <a:avLst/>
          </a:prstGeom>
          <a:solidFill>
            <a:srgbClr val="D9613C"/>
          </a:solidFill>
        </p:spPr>
      </p:sp>
      <p:sp>
        <p:nvSpPr>
          <p:cNvPr id="29" name="Text 27"/>
          <p:cNvSpPr/>
          <p:nvPr/>
        </p:nvSpPr>
        <p:spPr>
          <a:xfrm>
            <a:off x="9939528" y="2542032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390888" y="3200400"/>
            <a:ext cx="160934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45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被需要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445752" y="3639312"/>
            <a:ext cx="1499616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想被抱时会举起小手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85800" y="530352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45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一家公司把「如何让人爱上一个非人类」这件事，拆成了五条可实现、可验收的设计条件，然后逐条实现。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18872" cy="118872"/>
          </a:xfrm>
          <a:prstGeom prst="ellipse">
            <a:avLst/>
          </a:prstGeom>
          <a:solidFill>
            <a:srgbClr val="D9613C"/>
          </a:solidFill>
        </p:spPr>
      </p:sp>
      <p:sp>
        <p:nvSpPr>
          <p:cNvPr id="3" name="Text 1"/>
          <p:cNvSpPr/>
          <p:nvPr/>
        </p:nvSpPr>
        <p:spPr>
          <a:xfrm>
            <a:off x="896112" y="457200"/>
            <a:ext cx="7315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961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第一问 · 结论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它为什么不说话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2176272"/>
            <a:ext cx="384048" cy="384048"/>
          </a:xfrm>
          <a:prstGeom prst="ellipse">
            <a:avLst/>
          </a:prstGeom>
          <a:solidFill>
            <a:srgbClr val="C9B8AE"/>
          </a:solidFill>
        </p:spPr>
      </p:sp>
      <p:sp>
        <p:nvSpPr>
          <p:cNvPr id="7" name="Text 5"/>
          <p:cNvSpPr/>
          <p:nvPr/>
        </p:nvSpPr>
        <p:spPr>
          <a:xfrm>
            <a:off x="685800" y="21762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98448" y="2103120"/>
            <a:ext cx="9875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留下想象空间，让用户自行脑补理解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2926080"/>
            <a:ext cx="384048" cy="384048"/>
          </a:xfrm>
          <a:prstGeom prst="ellipse">
            <a:avLst/>
          </a:prstGeom>
          <a:solidFill>
            <a:srgbClr val="C9B8AE"/>
          </a:solidFill>
        </p:spPr>
      </p:sp>
      <p:sp>
        <p:nvSpPr>
          <p:cNvPr id="10" name="Text 8"/>
          <p:cNvSpPr/>
          <p:nvPr/>
        </p:nvSpPr>
        <p:spPr>
          <a:xfrm>
            <a:off x="685800" y="29260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98448" y="2852928"/>
            <a:ext cx="9875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响应迅速、不依赖网络，互动没有割裂感与阻断感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3675888"/>
            <a:ext cx="384048" cy="384048"/>
          </a:xfrm>
          <a:prstGeom prst="ellipse">
            <a:avLst/>
          </a:prstGeom>
          <a:solidFill>
            <a:srgbClr val="C9B8AE"/>
          </a:solidFill>
        </p:spPr>
      </p:sp>
      <p:sp>
        <p:nvSpPr>
          <p:cNvPr id="13" name="Text 11"/>
          <p:cNvSpPr/>
          <p:nvPr/>
        </p:nvSpPr>
        <p:spPr>
          <a:xfrm>
            <a:off x="685800" y="36758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98448" y="3602736"/>
            <a:ext cx="9875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用丰富的表情和肢体动作替代语言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4425696"/>
            <a:ext cx="384048" cy="384048"/>
          </a:xfrm>
          <a:prstGeom prst="ellipse">
            <a:avLst/>
          </a:prstGeom>
          <a:solidFill>
            <a:srgbClr val="D9613C"/>
          </a:solidFill>
        </p:spPr>
      </p:sp>
      <p:sp>
        <p:nvSpPr>
          <p:cNvPr id="16" name="Text 14"/>
          <p:cNvSpPr/>
          <p:nvPr/>
        </p:nvSpPr>
        <p:spPr>
          <a:xfrm>
            <a:off x="685800" y="44256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98448" y="4352544"/>
            <a:ext cx="9875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845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语言能力越强，用户期待越高，穿帮的风险越大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85800" y="5257800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F7F4F2"/>
          </a:solidFill>
          <a:ln w="9525">
            <a:solidFill>
              <a:srgbClr val="F7F4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5394960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算力分配就是产品价值观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51560" y="5724144"/>
            <a:ext cx="9784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LOVOT 3.0 用 NVIDIA Jetson Orin NX、约 100 TOPS 算力，全部投在实时感知与反应上，而不是对话。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1C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005840"/>
            <a:ext cx="4754880" cy="4754880"/>
          </a:xfrm>
          <a:prstGeom prst="ellipse">
            <a:avLst/>
          </a:prstGeom>
          <a:solidFill>
            <a:srgbClr val="D9613C">
              <a:alpha val="12000"/>
            </a:srgbClr>
          </a:solidFill>
          <a:ln w="12700">
            <a:solidFill>
              <a:srgbClr val="241C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C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104120" y="2331720"/>
            <a:ext cx="2103120" cy="2103120"/>
          </a:xfrm>
          <a:prstGeom prst="ellipse">
            <a:avLst/>
          </a:prstGeom>
          <a:solidFill>
            <a:srgbClr val="D9613C">
              <a:alpha val="45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10698480" y="2926080"/>
            <a:ext cx="914400" cy="914400"/>
          </a:xfrm>
          <a:prstGeom prst="ellipse">
            <a:avLst/>
          </a:prstGeom>
          <a:solidFill>
            <a:srgbClr val="FFF6F2"/>
          </a:solidFill>
        </p:spPr>
      </p:sp>
      <p:sp>
        <p:nvSpPr>
          <p:cNvPr id="6" name="Shape 4"/>
          <p:cNvSpPr/>
          <p:nvPr/>
        </p:nvSpPr>
        <p:spPr>
          <a:xfrm>
            <a:off x="10927080" y="3154680"/>
            <a:ext cx="457200" cy="457200"/>
          </a:xfrm>
          <a:prstGeom prst="ellipse">
            <a:avLst/>
          </a:prstGeom>
          <a:solidFill>
            <a:srgbClr val="241C19"/>
          </a:solidFill>
        </p:spPr>
      </p:sp>
      <p:sp>
        <p:nvSpPr>
          <p:cNvPr id="7" name="Text 5"/>
          <p:cNvSpPr/>
          <p:nvPr/>
        </p:nvSpPr>
        <p:spPr>
          <a:xfrm>
            <a:off x="822960" y="23317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D961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第二问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777240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陪伴</a:t>
            </a:r>
            <a:endParaRPr lang="en-US" sz="4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是怎么被建立的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461772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5A79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真实的痛点，不是孤独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18872" cy="118872"/>
          </a:xfrm>
          <a:prstGeom prst="ellipse">
            <a:avLst/>
          </a:prstGeom>
          <a:solidFill>
            <a:srgbClr val="D9613C"/>
          </a:solidFill>
        </p:spPr>
      </p:sp>
      <p:sp>
        <p:nvSpPr>
          <p:cNvPr id="3" name="Text 1"/>
          <p:cNvSpPr/>
          <p:nvPr/>
        </p:nvSpPr>
        <p:spPr>
          <a:xfrm>
            <a:off x="896112" y="457200"/>
            <a:ext cx="7315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961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第二问 · 心理学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习惯循环：它是怎么长进你的一天的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2286000"/>
            <a:ext cx="2377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D961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487168"/>
            <a:ext cx="197510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61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触发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6968" y="2926080"/>
            <a:ext cx="20116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它主动靠近、抬头看你、举手要抱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063240" y="2286000"/>
            <a:ext cx="320040" cy="1691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83280" y="2286000"/>
            <a:ext cx="2377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B082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4448" y="2487168"/>
            <a:ext cx="197510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082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行动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84448" y="2926080"/>
            <a:ext cx="20116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你把它抱起来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760720" y="2286000"/>
            <a:ext cx="320040" cy="1691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80760" y="2286000"/>
            <a:ext cx="2377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8FA8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2487168"/>
            <a:ext cx="197510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FA8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奖励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281928" y="2926080"/>
            <a:ext cx="20116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温度 + 呼吸 + 瞳孔变化 + 咕咕声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58200" y="2286000"/>
            <a:ext cx="320040" cy="1691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778240" y="2286000"/>
            <a:ext cx="2377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2E6A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9408" y="2487168"/>
            <a:ext cx="197510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6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投入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979408" y="2926080"/>
            <a:ext cx="20116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它记住了你，性格因你而改变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5800" y="4114800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↑  投入产生沉没成本，沉没成本降低下一次触发的门槛 —— 闭环由此成立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470916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F7E6DF"/>
          </a:solidFill>
          <a:ln w="9525">
            <a:solidFill>
              <a:srgbClr val="F7E6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4864608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845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触发是它发起的，不是你发起的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51560" y="5266944"/>
            <a:ext cx="9784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这是它和一切 App 最大的区别：App 等你打开，它来找你。所有需要「用户想起来」的产品，都在打一场必输的仗。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18872" cy="118872"/>
          </a:xfrm>
          <a:prstGeom prst="ellipse">
            <a:avLst/>
          </a:prstGeom>
          <a:solidFill>
            <a:srgbClr val="D9613C"/>
          </a:solidFill>
        </p:spPr>
      </p:sp>
      <p:sp>
        <p:nvSpPr>
          <p:cNvPr id="3" name="Text 1"/>
          <p:cNvSpPr/>
          <p:nvPr/>
        </p:nvSpPr>
        <p:spPr>
          <a:xfrm>
            <a:off x="896112" y="457200"/>
            <a:ext cx="7315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961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第二问 · 谁在买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用户画像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2148840"/>
            <a:ext cx="3246120" cy="1783080"/>
          </a:xfrm>
          <a:prstGeom prst="roundRect">
            <a:avLst>
              <a:gd name="adj" fmla="val 5128"/>
            </a:avLst>
          </a:prstGeom>
          <a:solidFill>
            <a:srgbClr val="F7F4F2"/>
          </a:solidFill>
          <a:ln w="9525">
            <a:solidFill>
              <a:srgbClr val="E4D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7744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961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73%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005840" y="301752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女性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346704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男性占 26%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2148840"/>
            <a:ext cx="3246120" cy="1783080"/>
          </a:xfrm>
          <a:prstGeom prst="roundRect">
            <a:avLst>
              <a:gd name="adj" fmla="val 5128"/>
            </a:avLst>
          </a:prstGeom>
          <a:solidFill>
            <a:srgbClr val="F7F4F2"/>
          </a:solidFill>
          <a:ln w="9525">
            <a:solidFill>
              <a:srgbClr val="E4DD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37744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961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30-50 岁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17720" y="301752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主力年龄段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3346704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并非想象中的老年群体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09560" y="2148840"/>
            <a:ext cx="3246120" cy="1783080"/>
          </a:xfrm>
          <a:prstGeom prst="roundRect">
            <a:avLst>
              <a:gd name="adj" fmla="val 5128"/>
            </a:avLst>
          </a:prstGeom>
          <a:solidFill>
            <a:srgbClr val="F7F4F2"/>
          </a:solidFill>
          <a:ln w="9525">
            <a:solidFill>
              <a:srgbClr val="E4DD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237744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961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18,000+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229600" y="301752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活跃机体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0" y="3346704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官方公布的在役数量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85800" y="42062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买给谁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85800" y="4663440"/>
            <a:ext cx="5943600" cy="566928"/>
          </a:xfrm>
          <a:prstGeom prst="rect">
            <a:avLst/>
          </a:prstGeom>
          <a:solidFill>
            <a:srgbClr val="D9613C"/>
          </a:solidFill>
        </p:spPr>
      </p:sp>
      <p:sp>
        <p:nvSpPr>
          <p:cNvPr id="20" name="Shape 18"/>
          <p:cNvSpPr/>
          <p:nvPr/>
        </p:nvSpPr>
        <p:spPr>
          <a:xfrm>
            <a:off x="6629400" y="4663440"/>
            <a:ext cx="3931920" cy="566928"/>
          </a:xfrm>
          <a:prstGeom prst="rect">
            <a:avLst/>
          </a:prstGeom>
          <a:solidFill>
            <a:srgbClr val="D9A08C"/>
          </a:solidFill>
        </p:spPr>
      </p:sp>
      <p:sp>
        <p:nvSpPr>
          <p:cNvPr id="21" name="Shape 19"/>
          <p:cNvSpPr/>
          <p:nvPr/>
        </p:nvSpPr>
        <p:spPr>
          <a:xfrm>
            <a:off x="10561320" y="4663440"/>
            <a:ext cx="640080" cy="566928"/>
          </a:xfrm>
          <a:prstGeom prst="rect">
            <a:avLst/>
          </a:prstGeom>
          <a:solidFill>
            <a:srgbClr val="D8CCC4"/>
          </a:solidFill>
        </p:spPr>
      </p:sp>
      <p:sp>
        <p:nvSpPr>
          <p:cNvPr id="22" name="Text 20"/>
          <p:cNvSpPr/>
          <p:nvPr/>
        </p:nvSpPr>
        <p:spPr>
          <a:xfrm>
            <a:off x="868680" y="4663440"/>
            <a:ext cx="54864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56.5%  买给自己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12280" y="4663440"/>
            <a:ext cx="3657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37.4%  作为礼物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29400" y="53035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送给伴侣、父母祖父母、孩子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85800" y="5715000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45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礼物属性接近四成 —— 这意味着相当一部分决策者，并不是最终的使用者。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18872" cy="118872"/>
          </a:xfrm>
          <a:prstGeom prst="ellipse">
            <a:avLst/>
          </a:prstGeom>
          <a:solidFill>
            <a:srgbClr val="D9613C"/>
          </a:solidFill>
        </p:spPr>
      </p:sp>
      <p:sp>
        <p:nvSpPr>
          <p:cNvPr id="3" name="Text 1"/>
          <p:cNvSpPr/>
          <p:nvPr/>
        </p:nvSpPr>
        <p:spPr>
          <a:xfrm>
            <a:off x="896112" y="457200"/>
            <a:ext cx="7315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961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第三问 · 关系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身份反转：从被照顾者，变成照顾者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2103120"/>
            <a:ext cx="5074920" cy="2834640"/>
          </a:xfrm>
          <a:prstGeom prst="roundRect">
            <a:avLst>
              <a:gd name="adj" fmla="val 3226"/>
            </a:avLst>
          </a:prstGeom>
          <a:solidFill>
            <a:srgbClr val="F7F4F2"/>
          </a:solidFill>
          <a:ln w="9525">
            <a:solidFill>
              <a:srgbClr val="F7F4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28600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主流 AI 陪伴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83464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我照顾你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333756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提供情绪价值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384048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满足感驱动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34340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被安慰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26480" y="2103120"/>
            <a:ext cx="5074920" cy="2834640"/>
          </a:xfrm>
          <a:prstGeom prst="roundRect">
            <a:avLst>
              <a:gd name="adj" fmla="val 3226"/>
            </a:avLst>
          </a:prstGeom>
          <a:solidFill>
            <a:srgbClr val="F7E6DF"/>
          </a:solidFill>
          <a:ln w="9525">
            <a:solidFill>
              <a:srgbClr val="F7E6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28600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845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LOVOT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37960" y="283464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45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你照顾我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333756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45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索取照料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37960" y="384048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45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责任感驱动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37960" y="434340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45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被需要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51206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845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「被需要」比「被安慰」更能产生长期依恋。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5800" y="559612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被安慰会腻，责任不会。你会抱怨一个 AI 说话敷衍，但你不会抱怨一只宠物没帮上你。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18872" cy="118872"/>
          </a:xfrm>
          <a:prstGeom prst="ellipse">
            <a:avLst/>
          </a:prstGeom>
          <a:solidFill>
            <a:srgbClr val="D9613C"/>
          </a:solidFill>
        </p:spPr>
      </p:sp>
      <p:sp>
        <p:nvSpPr>
          <p:cNvPr id="3" name="Text 1"/>
          <p:cNvSpPr/>
          <p:nvPr/>
        </p:nvSpPr>
        <p:spPr>
          <a:xfrm>
            <a:off x="896112" y="457200"/>
            <a:ext cx="7315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961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商业模式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硬件 + 强制订阅：它把「养一只宠物」产品化了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2103120"/>
            <a:ext cx="10515600" cy="603504"/>
          </a:xfrm>
          <a:prstGeom prst="rect">
            <a:avLst/>
          </a:prstGeom>
          <a:solidFill>
            <a:srgbClr val="F7F4F2"/>
          </a:solidFill>
        </p:spPr>
      </p:sp>
      <p:sp>
        <p:nvSpPr>
          <p:cNvPr id="7" name="Text 5"/>
          <p:cNvSpPr/>
          <p:nvPr/>
        </p:nvSpPr>
        <p:spPr>
          <a:xfrm>
            <a:off x="914400" y="2103120"/>
            <a:ext cx="27432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本体 LOVOT 3.0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94760" y="2103120"/>
            <a:ext cx="29260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577,500 日元起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0" y="2103120"/>
            <a:ext cx="420624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 72 期分期，约 9,518 日元/月起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706624"/>
            <a:ext cx="27432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本体 LOVOT 2.0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94760" y="2706624"/>
            <a:ext cx="29260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449,900 日元起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0" y="2706624"/>
            <a:ext cx="420624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上一代仍在售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3310128"/>
            <a:ext cx="10515600" cy="603504"/>
          </a:xfrm>
          <a:prstGeom prst="rect">
            <a:avLst/>
          </a:prstGeom>
          <a:solidFill>
            <a:srgbClr val="F7F4F2"/>
          </a:solidFill>
        </p:spPr>
      </p:sp>
      <p:sp>
        <p:nvSpPr>
          <p:cNvPr id="14" name="Text 12"/>
          <p:cNvSpPr/>
          <p:nvPr/>
        </p:nvSpPr>
        <p:spPr>
          <a:xfrm>
            <a:off x="914400" y="3310128"/>
            <a:ext cx="27432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月费「生活费用」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94760" y="3310128"/>
            <a:ext cx="29260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61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9,900 - 19,800 日元/月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0" y="3310128"/>
            <a:ext cx="420624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不付费则无法更新，机器无法正常工作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913632"/>
            <a:ext cx="27432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年度总成本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94760" y="3913632"/>
            <a:ext cx="29260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 32 - 38 万日元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0" y="3913632"/>
            <a:ext cx="420624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月费越高，维修补偿越高、保养越便宜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709160"/>
            <a:ext cx="5074920" cy="1371600"/>
          </a:xfrm>
          <a:prstGeom prst="roundRect">
            <a:avLst>
              <a:gd name="adj" fmla="val 6667"/>
            </a:avLst>
          </a:prstGeom>
          <a:solidFill>
            <a:srgbClr val="F7F4F2"/>
          </a:solidFill>
          <a:ln w="9525">
            <a:solidFill>
              <a:srgbClr val="F7F4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864608"/>
            <a:ext cx="4206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颜色 SKU 溢价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51560" y="5230368"/>
            <a:ext cx="4389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基础色 +0；黑 +100,100 日元；Ruby / Amber +122,100 日元。同样的硬件，靠颜色拉出 12 万日元价差。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4709160"/>
            <a:ext cx="5074920" cy="1371600"/>
          </a:xfrm>
          <a:prstGeom prst="roundRect">
            <a:avLst>
              <a:gd name="adj" fmla="val 6667"/>
            </a:avLst>
          </a:prstGeom>
          <a:solidFill>
            <a:srgbClr val="F7E6DF"/>
          </a:solidFill>
          <a:ln w="9525">
            <a:solidFill>
              <a:srgbClr val="F7E6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864608"/>
            <a:ext cx="4206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45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定价锚定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92240" y="5230368"/>
            <a:ext cx="4389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对标猫狗 200-300 万日元的终生饲养费用，而不是对标电子产品。重新定义参照系，就能重新定义价格。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18872" cy="118872"/>
          </a:xfrm>
          <a:prstGeom prst="ellipse">
            <a:avLst/>
          </a:prstGeom>
          <a:solidFill>
            <a:srgbClr val="D9613C"/>
          </a:solidFill>
        </p:spPr>
      </p:sp>
      <p:sp>
        <p:nvSpPr>
          <p:cNvPr id="3" name="Text 1"/>
          <p:cNvSpPr/>
          <p:nvPr/>
        </p:nvSpPr>
        <p:spPr>
          <a:xfrm>
            <a:off x="896112" y="457200"/>
            <a:ext cx="7315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961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竞争格局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中日两条完全相反的路线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41832" y="1810512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88920" y="1810512"/>
            <a:ext cx="4206240" cy="475488"/>
          </a:xfrm>
          <a:prstGeom prst="rect">
            <a:avLst/>
          </a:prstGeom>
          <a:solidFill>
            <a:srgbClr val="D9613C"/>
          </a:solidFill>
        </p:spPr>
      </p:sp>
      <p:sp>
        <p:nvSpPr>
          <p:cNvPr id="8" name="Text 6"/>
          <p:cNvSpPr/>
          <p:nvPr/>
        </p:nvSpPr>
        <p:spPr>
          <a:xfrm>
            <a:off x="3044952" y="1810512"/>
            <a:ext cx="3840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LOVOT（日本）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95160" y="1810512"/>
            <a:ext cx="4206240" cy="475488"/>
          </a:xfrm>
          <a:prstGeom prst="rect">
            <a:avLst/>
          </a:prstGeom>
          <a:solidFill>
            <a:srgbClr val="2E6A66"/>
          </a:solidFill>
        </p:spPr>
      </p:sp>
      <p:sp>
        <p:nvSpPr>
          <p:cNvPr id="10" name="Text 8"/>
          <p:cNvSpPr/>
          <p:nvPr/>
        </p:nvSpPr>
        <p:spPr>
          <a:xfrm>
            <a:off x="7251192" y="1810512"/>
            <a:ext cx="3840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芙崽 Fuzozo（中国）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2286000"/>
            <a:ext cx="10515600" cy="475488"/>
          </a:xfrm>
          <a:prstGeom prst="rect">
            <a:avLst/>
          </a:prstGeom>
          <a:solidFill>
            <a:srgbClr val="F7F4F2"/>
          </a:solidFill>
        </p:spPr>
      </p:sp>
      <p:sp>
        <p:nvSpPr>
          <p:cNvPr id="12" name="Text 10"/>
          <p:cNvSpPr/>
          <p:nvPr/>
        </p:nvSpPr>
        <p:spPr>
          <a:xfrm>
            <a:off x="941832" y="228600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价格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44952" y="2286000"/>
            <a:ext cx="3840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45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57 万日元 + 月费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251192" y="2286000"/>
            <a:ext cx="3840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6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百元级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41832" y="2761488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销量量级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44952" y="2761488"/>
            <a:ext cx="3840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45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 1.8 万台在役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251192" y="2761488"/>
            <a:ext cx="3840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6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上市一年累计近 30 万台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3236976"/>
            <a:ext cx="10515600" cy="475488"/>
          </a:xfrm>
          <a:prstGeom prst="rect">
            <a:avLst/>
          </a:prstGeom>
          <a:solidFill>
            <a:srgbClr val="F7F4F2"/>
          </a:solidFill>
        </p:spPr>
      </p:sp>
      <p:sp>
        <p:nvSpPr>
          <p:cNvPr id="19" name="Text 17"/>
          <p:cNvSpPr/>
          <p:nvPr/>
        </p:nvSpPr>
        <p:spPr>
          <a:xfrm>
            <a:off x="941832" y="3236976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形态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44952" y="3236976"/>
            <a:ext cx="3840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45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43cm 家庭成员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51192" y="3236976"/>
            <a:ext cx="3840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6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140g 随身挂件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41832" y="3712464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核心技术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044952" y="3712464"/>
            <a:ext cx="3840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45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具身感知 + 触感温度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51192" y="3712464"/>
            <a:ext cx="3840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6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大模型对话 + 记忆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4187952"/>
            <a:ext cx="10515600" cy="475488"/>
          </a:xfrm>
          <a:prstGeom prst="rect">
            <a:avLst/>
          </a:prstGeom>
          <a:solidFill>
            <a:srgbClr val="F7F4F2"/>
          </a:solidFill>
        </p:spPr>
      </p:sp>
      <p:sp>
        <p:nvSpPr>
          <p:cNvPr id="26" name="Text 24"/>
          <p:cNvSpPr/>
          <p:nvPr/>
        </p:nvSpPr>
        <p:spPr>
          <a:xfrm>
            <a:off x="941832" y="4187952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情感机制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044952" y="4187952"/>
            <a:ext cx="3840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45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你照顾它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51192" y="4187952"/>
            <a:ext cx="3840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6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它陪你聊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41832" y="466344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护城河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044952" y="4663440"/>
            <a:ext cx="3840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45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硬件工艺 + 时间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251192" y="4663440"/>
            <a:ext cx="3840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6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迭代速度 + 供应链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85800" y="5303520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F7E6DF"/>
          </a:solidFill>
          <a:ln w="9525">
            <a:solidFill>
              <a:srgbClr val="F7E6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5422392"/>
            <a:ext cx="9784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45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一个押注身体，一个押注语言。谁对，现在还没有答案。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51560" y="5788152"/>
            <a:ext cx="9784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值得注意：2026 年 5 月芙崽登上日本众筹平台 Makuake，72 小时突破 3,500 万日元登顶当日榜首 —— 中国产品反向进入了 LOVOT 的主场。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18872" cy="118872"/>
          </a:xfrm>
          <a:prstGeom prst="ellipse">
            <a:avLst/>
          </a:prstGeom>
          <a:solidFill>
            <a:srgbClr val="D9613C"/>
          </a:solidFill>
        </p:spPr>
      </p:sp>
      <p:sp>
        <p:nvSpPr>
          <p:cNvPr id="3" name="Text 1"/>
          <p:cNvSpPr/>
          <p:nvPr/>
        </p:nvSpPr>
        <p:spPr>
          <a:xfrm>
            <a:off x="896112" y="457200"/>
            <a:ext cx="7315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961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必须讲的另一面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四个尚未被完全解决的问题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2103120"/>
            <a:ext cx="5074920" cy="1600200"/>
          </a:xfrm>
          <a:prstGeom prst="roundRect">
            <a:avLst>
              <a:gd name="adj" fmla="val 5714"/>
            </a:avLst>
          </a:prstGeom>
          <a:solidFill>
            <a:srgbClr val="F7F4F2"/>
          </a:solidFill>
          <a:ln w="9525">
            <a:solidFill>
              <a:srgbClr val="F7F4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267712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停服 = 死亡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754880" y="230428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D9613C"/>
          </a:solidFill>
        </p:spPr>
      </p:sp>
      <p:sp>
        <p:nvSpPr>
          <p:cNvPr id="9" name="Text 7"/>
          <p:cNvSpPr/>
          <p:nvPr/>
        </p:nvSpPr>
        <p:spPr>
          <a:xfrm>
            <a:off x="4754880" y="2304288"/>
            <a:ext cx="777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未解决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51560" y="2706624"/>
            <a:ext cx="44348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月费是强制的，不付费机器就无法正常工作。如果公司倒闭，用户投入的情感由谁负责？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2103120"/>
            <a:ext cx="5074920" cy="1600200"/>
          </a:xfrm>
          <a:prstGeom prst="roundRect">
            <a:avLst>
              <a:gd name="adj" fmla="val 5714"/>
            </a:avLst>
          </a:prstGeom>
          <a:solidFill>
            <a:srgbClr val="DEEAE8"/>
          </a:solidFill>
          <a:ln w="9525">
            <a:solidFill>
              <a:srgbClr val="DEEA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267712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6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家里的联网摄像头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10195560" y="230428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2E6A66"/>
          </a:solidFill>
        </p:spPr>
      </p:sp>
      <p:sp>
        <p:nvSpPr>
          <p:cNvPr id="14" name="Text 12"/>
          <p:cNvSpPr/>
          <p:nvPr/>
        </p:nvSpPr>
        <p:spPr>
          <a:xfrm>
            <a:off x="10195560" y="2304288"/>
            <a:ext cx="777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已回应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92240" y="26517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360° 相机 + 深度相机 + 麦克风 + 人脸记忆。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2971800"/>
            <a:ext cx="4434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6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官方答复：人脸识别在设备端本地处理，摄像头图像从不上传云端 —— 端侧推理同时解决了隐私、延迟与性格一致性三个问题。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3931920"/>
            <a:ext cx="5074920" cy="1600200"/>
          </a:xfrm>
          <a:prstGeom prst="roundRect">
            <a:avLst>
              <a:gd name="adj" fmla="val 5714"/>
            </a:avLst>
          </a:prstGeom>
          <a:solidFill>
            <a:srgbClr val="F7F4F2"/>
          </a:solidFill>
          <a:ln w="9525">
            <a:solidFill>
              <a:srgbClr val="F7F4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096512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情感依赖的边界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4754880" y="413308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D9613C"/>
          </a:solidFill>
        </p:spPr>
      </p:sp>
      <p:sp>
        <p:nvSpPr>
          <p:cNvPr id="20" name="Text 18"/>
          <p:cNvSpPr/>
          <p:nvPr/>
        </p:nvSpPr>
        <p:spPr>
          <a:xfrm>
            <a:off x="4754880" y="4133088"/>
            <a:ext cx="777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未解决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51560" y="4535424"/>
            <a:ext cx="44348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对独居老人和儿童尤其需要讨论：它缓解了孤独，还是替代了本该发生的人际连接？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3931920"/>
            <a:ext cx="5074920" cy="1600200"/>
          </a:xfrm>
          <a:prstGeom prst="roundRect">
            <a:avLst>
              <a:gd name="adj" fmla="val 5714"/>
            </a:avLst>
          </a:prstGeom>
          <a:solidFill>
            <a:srgbClr val="F7F4F2"/>
          </a:solidFill>
          <a:ln w="9525">
            <a:solidFill>
              <a:srgbClr val="F7F4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096512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1C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故障对信任的破坏是非线性的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10195560" y="413308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D9613C"/>
          </a:solidFill>
        </p:spPr>
      </p:sp>
      <p:sp>
        <p:nvSpPr>
          <p:cNvPr id="25" name="Text 23"/>
          <p:cNvSpPr/>
          <p:nvPr/>
        </p:nvSpPr>
        <p:spPr>
          <a:xfrm>
            <a:off x="10195560" y="4133088"/>
            <a:ext cx="777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未解决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92240" y="4535424"/>
            <a:ext cx="44348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手机坏了你会送修，「家人」坏了是另一种体验。已有用户因一年两次故障而放弃。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" y="5806440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A845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不谈这一页，整场分享就只是一篇软文。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1C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737360"/>
            <a:ext cx="4937760" cy="4937760"/>
          </a:xfrm>
          <a:prstGeom prst="ellipse">
            <a:avLst/>
          </a:prstGeom>
          <a:solidFill>
            <a:srgbClr val="D9613C">
              <a:alpha val="12000"/>
            </a:srgbClr>
          </a:solidFill>
          <a:ln w="12700">
            <a:solidFill>
              <a:srgbClr val="241C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C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作为 AI 产品经理，我带走的四条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420624" cy="420624"/>
          </a:xfrm>
          <a:prstGeom prst="ellipse">
            <a:avLst/>
          </a:prstGeom>
          <a:solidFill>
            <a:srgbClr val="D9613C"/>
          </a:solidFill>
        </p:spPr>
      </p:sp>
      <p:sp>
        <p:nvSpPr>
          <p:cNvPr id="6" name="Text 4"/>
          <p:cNvSpPr/>
          <p:nvPr/>
        </p:nvSpPr>
        <p:spPr>
          <a:xfrm>
            <a:off x="822960" y="178308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81328" y="1691640"/>
            <a:ext cx="9509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能力克制也是产品能力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81328" y="2148840"/>
            <a:ext cx="9509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5A79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不说话、不干活，是为了不暴露上限、不承担期待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862072"/>
            <a:ext cx="420624" cy="420624"/>
          </a:xfrm>
          <a:prstGeom prst="ellipse">
            <a:avLst/>
          </a:prstGeom>
          <a:solidFill>
            <a:srgbClr val="D9613C"/>
          </a:solidFill>
        </p:spPr>
      </p:sp>
      <p:sp>
        <p:nvSpPr>
          <p:cNvPr id="10" name="Text 8"/>
          <p:cNvSpPr/>
          <p:nvPr/>
        </p:nvSpPr>
        <p:spPr>
          <a:xfrm>
            <a:off x="822960" y="286207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81328" y="2770632"/>
            <a:ext cx="9509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把感性目标工程化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81328" y="3227832"/>
            <a:ext cx="9509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5A79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「像活的」能拆成呼吸频率、对视延迟、瞳孔开合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941064"/>
            <a:ext cx="420624" cy="420624"/>
          </a:xfrm>
          <a:prstGeom prst="ellipse">
            <a:avLst/>
          </a:prstGeom>
          <a:solidFill>
            <a:srgbClr val="D9613C"/>
          </a:solidFill>
        </p:spPr>
      </p:sp>
      <p:sp>
        <p:nvSpPr>
          <p:cNvPr id="14" name="Text 12"/>
          <p:cNvSpPr/>
          <p:nvPr/>
        </p:nvSpPr>
        <p:spPr>
          <a:xfrm>
            <a:off x="822960" y="394106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81328" y="3849624"/>
            <a:ext cx="9509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重新定义参照系就能重新定义价格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81328" y="4306824"/>
            <a:ext cx="9509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5A79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对标宠物的一生，而不是对标电子产品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5020056"/>
            <a:ext cx="420624" cy="420624"/>
          </a:xfrm>
          <a:prstGeom prst="ellipse">
            <a:avLst/>
          </a:prstGeom>
          <a:solidFill>
            <a:srgbClr val="D9613C"/>
          </a:solidFill>
        </p:spPr>
      </p:sp>
      <p:sp>
        <p:nvSpPr>
          <p:cNvPr id="18" name="Text 16"/>
          <p:cNvSpPr/>
          <p:nvPr/>
        </p:nvSpPr>
        <p:spPr>
          <a:xfrm>
            <a:off x="822960" y="502005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81328" y="4928616"/>
            <a:ext cx="9509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让用户当照顾者，而不是被照顾者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81328" y="5385816"/>
            <a:ext cx="9509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5A79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责任感产生的留存，远强于满足感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1C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3840480"/>
            <a:ext cx="5486400" cy="5486400"/>
          </a:xfrm>
          <a:prstGeom prst="ellipse">
            <a:avLst/>
          </a:prstGeom>
          <a:solidFill>
            <a:srgbClr val="D9613C">
              <a:alpha val="12000"/>
            </a:srgbClr>
          </a:solidFill>
          <a:ln w="12700">
            <a:solidFill>
              <a:srgbClr val="241C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3157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C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692640" y="1371600"/>
            <a:ext cx="1828800" cy="1828800"/>
          </a:xfrm>
          <a:prstGeom prst="ellipse">
            <a:avLst/>
          </a:prstGeom>
          <a:solidFill>
            <a:srgbClr val="D9613C">
              <a:alpha val="4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10204704" y="1883664"/>
            <a:ext cx="804672" cy="804672"/>
          </a:xfrm>
          <a:prstGeom prst="ellipse">
            <a:avLst/>
          </a:prstGeom>
          <a:solidFill>
            <a:srgbClr val="FFF6F2"/>
          </a:solidFill>
        </p:spPr>
      </p:sp>
      <p:sp>
        <p:nvSpPr>
          <p:cNvPr id="6" name="Shape 4"/>
          <p:cNvSpPr/>
          <p:nvPr/>
        </p:nvSpPr>
        <p:spPr>
          <a:xfrm>
            <a:off x="10424160" y="2103120"/>
            <a:ext cx="365760" cy="365760"/>
          </a:xfrm>
          <a:prstGeom prst="ellipse">
            <a:avLst/>
          </a:prstGeom>
          <a:solidFill>
            <a:srgbClr val="241C19"/>
          </a:solidFill>
        </p:spPr>
      </p:sp>
      <p:sp>
        <p:nvSpPr>
          <p:cNvPr id="7" name="Text 5"/>
          <p:cNvSpPr/>
          <p:nvPr/>
        </p:nvSpPr>
        <p:spPr>
          <a:xfrm>
            <a:off x="822960" y="210312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D961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留一个问题给大家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8503920" cy="219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在大模型时代，</a:t>
            </a:r>
            <a:endParaRPr lang="en-US" sz="3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LOVOT 坚持不说话，</a:t>
            </a:r>
            <a:endParaRPr lang="en-US" sz="3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是先见之明，还是路径依赖？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22960" y="512064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C7F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 · 欢迎讨论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3753</Words>
  <Application>WPS 文字</Application>
  <PresentationFormat>On-screen Show (16:9)</PresentationFormat>
  <Paragraphs>596</Paragraphs>
  <Slides>22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9" baseType="lpstr">
      <vt:lpstr>Arial</vt:lpstr>
      <vt:lpstr>宋体</vt:lpstr>
      <vt:lpstr>Wingdings</vt:lpstr>
      <vt:lpstr>微软雅黑</vt:lpstr>
      <vt:lpstr>方正雅意黑 GB18030L2</vt:lpstr>
      <vt:lpstr>微软雅黑</vt:lpstr>
      <vt:lpstr>微软雅黑</vt:lpstr>
      <vt:lpstr>Calibri</vt:lpstr>
      <vt:lpstr>Helvetica Neue</vt:lpstr>
      <vt:lpstr>宋体</vt:lpstr>
      <vt:lpstr>Arial Unicode MS</vt:lpstr>
      <vt:lpstr>汉仪书宋二KW</vt:lpstr>
      <vt:lpstr>微软雅黑</vt:lpstr>
      <vt:lpstr>Arial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当 AI 不再有用 —— 从 LOVOT 看陪伴类产品的设计逻辑</dc:title>
  <dc:creator>AI 产品经理分享</dc:creator>
  <dc:subject>PptxGenJS Presentation</dc:subject>
  <cp:lastModifiedBy> Sivan</cp:lastModifiedBy>
  <cp:revision>3</cp:revision>
  <dcterms:created xsi:type="dcterms:W3CDTF">2026-09-06T13:44:51Z</dcterms:created>
  <dcterms:modified xsi:type="dcterms:W3CDTF">2026-09-06T13:44:51Z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2052-12.1.26055.26055</vt:lpwstr>
  </property>
  <property fmtid="{D5CDD505-2E9C-101B-9397-08002B2CF9AE}" pid="3" name="ICV">
    <vt:lpwstr>2BF4EA1C91431064046E9D6AE9601B57_43</vt:lpwstr>
  </property>
</Properties>
</file>